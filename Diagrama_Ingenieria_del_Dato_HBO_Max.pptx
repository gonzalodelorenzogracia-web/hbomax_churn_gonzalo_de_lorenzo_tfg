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1" d="100"/>
          <a:sy n="61" d="100"/>
        </p:scale>
        <p:origin x="8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501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A0001C"/>
          </a:solidFill>
          <a:ln w="12700">
            <a:solidFill>
              <a:srgbClr val="A000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INGENIERÍA DEL DATO  ·  Predicción en Tiempo Real del Churn — HBO Max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" y="457200"/>
            <a:ext cx="3794760" cy="621792"/>
          </a:xfrm>
          <a:prstGeom prst="rect">
            <a:avLst/>
          </a:prstGeom>
          <a:solidFill>
            <a:srgbClr val="1C2033"/>
          </a:solidFill>
          <a:ln w="12700">
            <a:solidFill>
              <a:srgbClr val="1C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 Sintético (Python)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5.000 registros · 11 variables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HBO Max web · Reuters · Statista · CNMC  |  seed=42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60520" y="457200"/>
            <a:ext cx="3858768" cy="621792"/>
          </a:xfrm>
          <a:prstGeom prst="rect">
            <a:avLst/>
          </a:prstGeom>
          <a:solidFill>
            <a:srgbClr val="1C2033"/>
          </a:solidFill>
          <a:ln w="12700">
            <a:solidFill>
              <a:srgbClr val="1C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251960" y="457200"/>
            <a:ext cx="36758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 Enriquecido (Python)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5.000 registros · 9 nuevas variables de comportamiento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Sesión · Dispositivo · Región · Género · Descuento · Pausa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02168" y="457200"/>
            <a:ext cx="3849624" cy="621792"/>
          </a:xfrm>
          <a:prstGeom prst="rect">
            <a:avLst/>
          </a:prstGeom>
          <a:solidFill>
            <a:srgbClr val="A0001C"/>
          </a:solidFill>
          <a:ln w="12700">
            <a:solidFill>
              <a:srgbClr val="A000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93608" y="457200"/>
            <a:ext cx="3666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 Combinado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10.000 registros · 20 variables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Tasa de churn: 18,2%  |  Ratio 4,5:1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04488" y="768096"/>
            <a:ext cx="25603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8019288" y="768096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950208" y="64008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91856" y="64008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" y="1170432"/>
            <a:ext cx="3794760" cy="347472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09728" y="1170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Exploración y Limpieza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1170432"/>
            <a:ext cx="3858768" cy="347472"/>
          </a:xfrm>
          <a:prstGeom prst="rect">
            <a:avLst/>
          </a:prstGeom>
          <a:solidFill>
            <a:srgbClr val="1F6BA5"/>
          </a:solidFill>
          <a:ln w="12700">
            <a:solidFill>
              <a:srgbClr val="1F6B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160520" y="1170432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02168" y="1170432"/>
            <a:ext cx="3849624" cy="347472"/>
          </a:xfrm>
          <a:prstGeom prst="rect">
            <a:avLst/>
          </a:prstGeom>
          <a:solidFill>
            <a:srgbClr val="3A7A2C"/>
          </a:solidFill>
          <a:ln w="1270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02168" y="1170432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" y="1563624"/>
            <a:ext cx="3794760" cy="501091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160520" y="1563624"/>
            <a:ext cx="3858768" cy="4471416"/>
          </a:xfrm>
          <a:prstGeom prst="rect">
            <a:avLst/>
          </a:prstGeom>
          <a:solidFill>
            <a:srgbClr val="DDF0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8202168" y="1588443"/>
            <a:ext cx="3849624" cy="5010912"/>
          </a:xfrm>
          <a:prstGeom prst="rect">
            <a:avLst/>
          </a:prstGeom>
          <a:solidFill>
            <a:srgbClr val="E5F5D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82880" y="1636776"/>
            <a:ext cx="3648456" cy="22860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28600" y="1645920"/>
            <a:ext cx="3557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Profiling Inicial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" y="1865376"/>
            <a:ext cx="3648456" cy="521208"/>
          </a:xfrm>
          <a:prstGeom prst="rect">
            <a:avLst/>
          </a:prstGeom>
          <a:solidFill>
            <a:srgbClr val="DCDCDC"/>
          </a:solidFill>
          <a:ln w="635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28600" y="1839607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10.000 registros × 20 variables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Tasa de churn global: 18,2%  (ratio 4,5:1)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Dataset original: 29,1%  |  Enriquecido: 7,2%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Herramienta: Python · pandas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" y="2468880"/>
            <a:ext cx="3648456" cy="22860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28600" y="2478024"/>
            <a:ext cx="3557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Análisis de Valores Nulos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2697480"/>
            <a:ext cx="3648456" cy="502920"/>
          </a:xfrm>
          <a:prstGeom prst="rect">
            <a:avLst/>
          </a:prstGeom>
          <a:solidFill>
            <a:srgbClr val="DCDCDC"/>
          </a:solidFill>
          <a:ln w="635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13360" y="2647327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45.000 nulos estructurales (50% del dataset)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9 variables afectadas — todas de sesión/comportamiento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Causa: fusión de datasets (5.000 + 5.000 registros)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Naturaleza no aleatoria — tratamiento diferenciado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3282696"/>
            <a:ext cx="3648456" cy="22860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28600" y="3291840"/>
            <a:ext cx="3557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5 Estrategias de Imputación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2880" y="3511296"/>
            <a:ext cx="3648456" cy="1920240"/>
          </a:xfrm>
          <a:prstGeom prst="rect">
            <a:avLst/>
          </a:prstGeom>
          <a:solidFill>
            <a:srgbClr val="DCDCDC"/>
          </a:solidFill>
          <a:ln w="635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46888" y="3547872"/>
            <a:ext cx="352044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MODA  →  device_type, main_genre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(Smart TV, Drama — categorías más frecuentes)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MEDIANA  →  active_profiles, months_paused (= 0)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(distribuciones asimétricas con cola derecha)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INTERPOLACIÓN LINEAL  →  sessions_per_week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(ordenado por tenure_months, relación temporal)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MEDIA + RUIDO GAUSSIANO  →  avg_session_min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(σ_imp = 0,3 × σ_orig — evita valores idénticos)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DIST. PROPORCIONAL  →  used_trial, has_discount, region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(proporciones 65/35, 70/30 y geográfica conservadas)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2880" y="5513832"/>
            <a:ext cx="3648456" cy="22860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228600" y="5522976"/>
            <a:ext cx="3557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Análisis de Duplicados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" y="5779008"/>
            <a:ext cx="3648456" cy="438912"/>
          </a:xfrm>
          <a:prstGeom prst="rect">
            <a:avLst/>
          </a:prstGeom>
          <a:solidFill>
            <a:srgbClr val="DCDCDC"/>
          </a:solidFill>
          <a:ln w="635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246888" y="57790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0 duplicados — integridad estructural confirmada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IDs secuenciales únicos por construcción (Python)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No se requiere deduplicación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233672" y="1636776"/>
            <a:ext cx="3712464" cy="228600"/>
          </a:xfrm>
          <a:prstGeom prst="rect">
            <a:avLst/>
          </a:prstGeom>
          <a:solidFill>
            <a:srgbClr val="1F6BA5"/>
          </a:solidFill>
          <a:ln w="12700">
            <a:solidFill>
              <a:srgbClr val="1F6B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279392" y="1645920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Tratamiento de Outliers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233672" y="1865376"/>
            <a:ext cx="3712464" cy="868680"/>
          </a:xfrm>
          <a:prstGeom prst="rect">
            <a:avLst/>
          </a:prstGeom>
          <a:solidFill>
            <a:srgbClr val="BAD7EE"/>
          </a:solidFill>
          <a:ln w="6350">
            <a:solidFill>
              <a:srgbClr val="1F6B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233672" y="1843496"/>
            <a:ext cx="35844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Detección: método IQR  (1,5 × IQR)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Estrategia: Winsorización p1–p99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Variables tratadas: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· total_watch_hours     · support_tickets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· sessions_per_week     · </a:t>
            </a:r>
            <a:r>
              <a:rPr lang="en-US" sz="700" dirty="0" err="1">
                <a:solidFill>
                  <a:srgbClr val="1A1A1A"/>
                </a:solidFill>
              </a:rPr>
              <a:t>avg_session_min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Sin tratar: total_revenue, monthly_fee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(variabilidad legítima de plan y antigüedad)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233672" y="2816352"/>
            <a:ext cx="3712464" cy="228600"/>
          </a:xfrm>
          <a:prstGeom prst="rect">
            <a:avLst/>
          </a:prstGeom>
          <a:solidFill>
            <a:srgbClr val="1F6BA5"/>
          </a:solidFill>
          <a:ln w="12700">
            <a:solidFill>
              <a:srgbClr val="1F6B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279392" y="2825496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Eliminación de Variables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33672" y="3099540"/>
            <a:ext cx="3712464" cy="292608"/>
          </a:xfrm>
          <a:prstGeom prst="rect">
            <a:avLst/>
          </a:prstGeom>
          <a:solidFill>
            <a:srgbClr val="BAD7EE"/>
          </a:solidFill>
          <a:ln w="6350">
            <a:solidFill>
              <a:srgbClr val="1F6B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297680" y="3081528"/>
            <a:ext cx="358444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subscriber_id  →  evita sesgo de identidad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fuente  →  variable de control del pipeline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20 variables  →  18 variables de partida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224528" y="3412654"/>
            <a:ext cx="3712464" cy="228600"/>
          </a:xfrm>
          <a:prstGeom prst="rect">
            <a:avLst/>
          </a:prstGeom>
          <a:solidFill>
            <a:srgbClr val="1F6BA5"/>
          </a:solidFill>
          <a:ln w="12700">
            <a:solidFill>
              <a:srgbClr val="1F6B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279392" y="3429000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Feature Engineering — 6 Variables Derivadas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33672" y="3648456"/>
            <a:ext cx="3739896" cy="2130552"/>
          </a:xfrm>
          <a:prstGeom prst="rect">
            <a:avLst/>
          </a:prstGeom>
          <a:solidFill>
            <a:srgbClr val="BAD7EE"/>
          </a:solidFill>
          <a:ln w="6350">
            <a:solidFill>
              <a:srgbClr val="1F6B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4206240" y="3630495"/>
            <a:ext cx="358444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tenure_segment  (Label Encoding ordinal 1–4):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Tramos: 1-6m · 7-12m · 13-24m · 25-36m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low_usage  (binaria):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1  si  total_watch_hours &lt; 10 h/mes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high_original  (binaria):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1  si  hbo_original_share &gt; 0,50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revenue_per_month: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total_revenue / tenure_months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engagement_ratio: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watch_hours / (sessions_per_week × 4,3)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at_risk_service  (binaria):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1  si  tickets ≥ 3  Y  satisfaction_score ≤ 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27064" y="3429327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Codificación de Variables Categóricas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158484" y="3814990"/>
            <a:ext cx="3721608" cy="510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One-Hot Encoding (5 vars nominales):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plan_type · payment_method · device_type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main_genre · region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Label Encoding ordinal: tenure_segment  (1–4)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→  Dataset final: 10.000 × 45 variables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275320" y="1636776"/>
            <a:ext cx="3703320" cy="228600"/>
          </a:xfrm>
          <a:prstGeom prst="rect">
            <a:avLst/>
          </a:prstGeom>
          <a:solidFill>
            <a:srgbClr val="3A7A2C"/>
          </a:solidFill>
          <a:ln w="1270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8321040" y="164592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Distribuciones por Clase de Churn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275320" y="1865376"/>
            <a:ext cx="3703320" cy="365760"/>
          </a:xfrm>
          <a:prstGeom prst="rect">
            <a:avLst/>
          </a:prstGeom>
          <a:solidFill>
            <a:srgbClr val="C0E8A8"/>
          </a:solidFill>
          <a:ln w="635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8247888" y="1810185"/>
            <a:ext cx="357530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9 variables numéricas segmentadas por clase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total_watch_hours: mayor separación entre grupos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satisfaction_score: inversión de proporciones (alta/baja)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293608" y="2239645"/>
            <a:ext cx="3703320" cy="228600"/>
          </a:xfrm>
          <a:prstGeom prst="rect">
            <a:avLst/>
          </a:prstGeom>
          <a:solidFill>
            <a:srgbClr val="3A7A2C"/>
          </a:solidFill>
          <a:ln w="1270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8281198" y="2265099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Tasa de Churn por Variables Categóricas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275320" y="2468226"/>
            <a:ext cx="3703320" cy="658695"/>
          </a:xfrm>
          <a:prstGeom prst="rect">
            <a:avLst/>
          </a:prstGeom>
          <a:solidFill>
            <a:srgbClr val="C0E8A8"/>
          </a:solidFill>
          <a:ln w="635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8275320" y="242316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Plan mensual: churn más elevado de todas las categorías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Smart TV: menor churn  |  Móvil: mayor churn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España: menor tasa regional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Drama/Thriller: menor churn que Documental/Comedia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Suscriptores nuevos (1-6m): tasa casi doble que la media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303732" y="3079619"/>
            <a:ext cx="3703320" cy="228600"/>
          </a:xfrm>
          <a:prstGeom prst="rect">
            <a:avLst/>
          </a:prstGeom>
          <a:solidFill>
            <a:srgbClr val="3A7A2C"/>
          </a:solidFill>
          <a:ln w="1270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8366760" y="3091703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Matriz de Correlación de Pearson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275320" y="3302272"/>
            <a:ext cx="3703320" cy="735130"/>
          </a:xfrm>
          <a:prstGeom prst="rect">
            <a:avLst/>
          </a:prstGeom>
          <a:solidFill>
            <a:srgbClr val="C0E8A8"/>
          </a:solidFill>
          <a:ln w="635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8293608" y="3238935"/>
            <a:ext cx="327028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churn  ~  ⊖ satisfaction_score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churn  ~  ⊖ total_watch_hours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churn  ~  ⊕ support_tickets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total_revenue ≈ tenure_months  (r ≈ 1,0 por construcción)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→  Posible eliminación en modelado (multicolinealidad)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engagement_ratio captura dimensión independiente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275320" y="4069080"/>
            <a:ext cx="3703320" cy="228600"/>
          </a:xfrm>
          <a:prstGeom prst="rect">
            <a:avLst/>
          </a:prstGeom>
          <a:solidFill>
            <a:srgbClr val="3A7A2C"/>
          </a:solidFill>
          <a:ln w="1270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8321040" y="407822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Análisis Temporal por Antigüedad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275320" y="4297680"/>
            <a:ext cx="3703320" cy="557784"/>
          </a:xfrm>
          <a:prstGeom prst="rect">
            <a:avLst/>
          </a:prstGeom>
          <a:solidFill>
            <a:srgbClr val="C0E8A8"/>
          </a:solidFill>
          <a:ln w="635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8331490" y="4275473"/>
            <a:ext cx="35753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Zona de alto riesgo: primeros 6 meses de suscripción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Churn prácticamente duplica la media global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Estabilización por debajo de la media: mes 12–13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Suscriptores fieles (&gt;24m): tasas de abandono mínimas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275320" y="4882896"/>
            <a:ext cx="3703320" cy="228600"/>
          </a:xfrm>
          <a:prstGeom prst="rect">
            <a:avLst/>
          </a:prstGeom>
          <a:solidFill>
            <a:srgbClr val="3A7A2C"/>
          </a:solidFill>
          <a:ln w="1270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8321040" y="489204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Análisis Bivariante: Variables Clave vs Churn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275320" y="5111495"/>
            <a:ext cx="3703320" cy="484959"/>
          </a:xfrm>
          <a:prstGeom prst="rect">
            <a:avLst/>
          </a:prstGeom>
          <a:solidFill>
            <a:srgbClr val="C0E8A8"/>
          </a:solidFill>
          <a:ln w="635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8247888" y="5114761"/>
            <a:ext cx="35753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Umbral 10h/mes → separador natural de riesgo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Satisfacción: relación monotónica casi perfecta (1→5)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Tickets de soporte: relación lineal positiva con churn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8229600" y="5637276"/>
            <a:ext cx="3703320" cy="228600"/>
          </a:xfrm>
          <a:prstGeom prst="rect">
            <a:avLst/>
          </a:prstGeom>
          <a:solidFill>
            <a:srgbClr val="3A7A2C"/>
          </a:solidFill>
          <a:ln w="1270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8293608" y="5646747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Impacto Variables Derivadas en Churn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229600" y="5870448"/>
            <a:ext cx="3703320" cy="688086"/>
          </a:xfrm>
          <a:prstGeom prst="rect">
            <a:avLst/>
          </a:prstGeom>
          <a:solidFill>
            <a:srgbClr val="C0E8A8"/>
          </a:solidFill>
          <a:ln w="6350">
            <a:solidFill>
              <a:srgbClr val="3A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6"/>
          <p:cNvSpPr/>
          <p:nvPr/>
        </p:nvSpPr>
        <p:spPr>
          <a:xfrm>
            <a:off x="8339328" y="5870448"/>
            <a:ext cx="3575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low_usage: churn  ×2–3  vs suscriptores activos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high_original: contenido HBO como factor de fidelización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→ menor probabilidad de churn diferencial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at_risk_service: riesgo extremo — triple de la media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A1A1A"/>
                </a:solidFill>
              </a:rPr>
              <a:t>  → Primera prioridad en campañas de retención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137160" y="6661404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</a:rPr>
              <a:t>Fuente: elaboración propia a partir de HBO Max España, Reuters Institute Digital Report, Statista y CNMC.   Herramientas: Python 3.x · pandas · numpy · matplotlib · seaborn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836</Words>
  <Application>Microsoft Office PowerPoint</Application>
  <PresentationFormat>Panorámica</PresentationFormat>
  <Paragraphs>114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Gonzalo de Lorenzo Gracia</cp:lastModifiedBy>
  <cp:revision>2</cp:revision>
  <dcterms:created xsi:type="dcterms:W3CDTF">2026-04-13T20:36:12Z</dcterms:created>
  <dcterms:modified xsi:type="dcterms:W3CDTF">2026-04-13T20:46:34Z</dcterms:modified>
</cp:coreProperties>
</file>